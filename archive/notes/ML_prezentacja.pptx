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Predykcja opóźnień lotów — ścieżka Random Forest</a:t>
            </a:r>
          </a:p>
          <a:p>
            <a:r>
              <a:rPr sz="2000" b="0" i="0">
                <a:solidFill>
                  <a:srgbClr val="BBC6D3"/>
                </a:solidFill>
                <a:latin typeface="Calibri"/>
              </a:rPr>
              <a:t>Big Data · lotnisko Kraków-Balice (KRK) · klasyfikacja opóźnień &gt; 15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1.  Cel i opis pracy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Cel i opis pracy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Analiza punktualności odlotów z lotniska Kraków-Balice (KRK)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Zadanie ML: klasyfikacja binarna — czy lot jest opóźniony (&gt; 15 min)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etykieta: czy_opozniony = (czas_rzeczywisty − czas_planowany) &gt; 15 min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Ścieżka alternatywna: jeden model (Random Forest) + dogłębne eksperymenty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zamiast: szerokiej siatki 5 modeli — skupiamy się i badamy jeden estymator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Metryki: F1 (klasa mniejszościowa) oraz zrównoważona dokładność (balanced accuracy)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2.  Dane — zbieranie i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Dane — zbieranie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Źródło: publiczna tablica odlotów KRK (renderowana w JS)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Potok pozyskiwania (codziennie, cron):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page_scraper.py (Playwright) → HTML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parser.py (BeautifulSoup) → upsert do SQLite (baza_lotow.db, tabela loty_odloty)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~5 100 ważnych rekordów; okno czasowe ~kwiecień–maj 2026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Kolumny: data, numer lotu, linia, kierunek (kod IATA), czas planowany/rzeczywisty, status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uwaga: parser nadpisuje rekordy (upsert) → dane wymagają deduplikacji w dół potoku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Dane — preprocessing (FlightsTransform.load_xy)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Filtr ważnych lotów (Wystartował / Odwołany) + deduplikacja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Inżynieria cech (13 cech):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dystans Haversine od KRK (IATA → współrzędne via airportsdata)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cykliczne kodowanie czasu: sin/cos godziny, dnia tygodnia, miesiąca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jest_weekend, dzien_miesiaca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kodowanie linii lotniczej: one-hot LUB label (ordinal)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KLUCZOWE: load_xy NIE skaluje i NIE resampluje danych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skalowanie i resampling robione per-fold → brak wycieku danych (data leakage)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3.  Teoria —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Random Forest — jak działa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Zespół (ensemble) wielu drzew decyzyjnych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Bagging — każde drzewo uczone na próbce bootstrap (losowanie ze zwracaniem)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Losowy podzbiór cech przy każdym podziale (max_features) → dekorelacja drzew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Predykcja = głosowanie większościowe / uśrednione prawdopodobieństwo drzew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Zalety: odporność na przeuczenie, nieliniowość, ważność cech, mało strojenia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predict_proba: uporządkowane prawdopodobieństwa → możliwość strojenia progu i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Hiperparametry RF — co stroimy w HPO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n_estimators: liczba drzew — więcej = stabilniej, ale wolniej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max_depth: maks. głębokość drzewa — kontrola przeuczenia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min_samples_leaf: min. liczba próbek w liściu — wygładza model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max_features: liczba cech rozważanych przy podziale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criterion: miara jakości podziału: gini / entropy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class_weight: waga klas: None / balanced / balanced_subsample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kluczowe przy niezbalansowaniu klas — alternatywa dla resamplingu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4.  Uwagi do kodu — na co zwrócić uwagę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Architektura kodu — kluczowe decyzje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FlightsTransform = JEDYNE źródło logiki danych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skrypty treningowe/eksperymentalne nie zawierają logiki danych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Potok odporny na wyciek (imblearn.Pipeline):  scaler → [resampler] → RF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resampling stosowany TYLKO na zbiorze treningowym danego folda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build_pipeline() — punkt zbieżny wszystkich eksperymentów (A, B, C)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Skalowanie per-kolumna: Standard / Robust / log1p / MinMax (wg rozkładu cechy)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Logi JSON kompatybilne z istniejącymi narzędziami analitycznymi (rf_logs/)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5.  Eksperymenty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Eksperymenty — przegląd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Stałe założenia: próg = 15 min, tylko Random Forest, 2 kodowania (onehot/label)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 — optymalizacja hiperparametrów: RandomizedSearchCV, 5-fold, refit = F1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B — strategia niezbalansowania: 7 strategii, StratifiedKFold (5)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 — schemat walidacji: StratifiedKFold vs chronologiczny podział OOT 80/20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Wszystko zapisywane jako logi JSON → wykresy w rf_plots/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Eksperyment A — HPO (przeszukiwanie hiperparametrów)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RandomizedSearchCV: 40 kandydatów, 5-fold, refit = F1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Najlepsze parametry przekazywane dalej do B i C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Wnioski: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class_weight i max_features mają największy wpływ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n_estimators prawie bez wpływu na F1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strojenie tylko przesuwa kompromis, nie tworzy sygnału</a:t>
            </a:r>
          </a:p>
        </p:txBody>
      </p:sp>
      <p:pic>
        <p:nvPicPr>
          <p:cNvPr id="5" name="Picture 4" descr="hpo_overview_one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40480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Eksperyment B — strategia niezbalansowania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7 strategii = 3× class_weight + 4× resampling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SMOTE / undersample / SMOTEENN / SMOTETomek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Najlepsze: cw_balanced, cw_balanced_subsample, undersample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Najsłabsze: cw_none (brak obsługi niezbalansowania)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class_weight ≈ resampling, a jest prostsze</a:t>
            </a:r>
          </a:p>
        </p:txBody>
      </p:sp>
      <p:pic>
        <p:nvPicPr>
          <p:cNvPr id="5" name="Picture 4" descr="strategy_comparison_kfold_one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27201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Eksperyment C — walidacja: kfold vs 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kfold = optymistyczny; OOT czasowy = uczciwy (predykcja przyszłości)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Δ = kfold − OOT (luka optymizmu)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cw_none — największy spadek na OOT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D3D"/>
                </a:solidFill>
                <a:latin typeface="Calibri"/>
              </a:rPr>
              <a:t>•  Pozostałe strategie dobrze generalizują (małe Δ)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uwaga: część dat jest syntetyczna — zaburza sygnał czasowy</a:t>
            </a:r>
          </a:p>
        </p:txBody>
      </p:sp>
      <p:pic>
        <p:nvPicPr>
          <p:cNvPr id="5" name="Picture 4" descr="kfold_vs_oot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41032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6.  Opracowanie wyników i wnioski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Wyniki i diagnoza — dlaczego F1 ≈ 0.57?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Najlepsze F1 ≈ 0.56–0.57, balanced accuracy ≈ 0.67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ROC-AUC = 0.74 → sygnał REALNY, ale umiarkowany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Sufit F1 ≈ 0.57 nawet przy optymalnym progu prawdopodobieństwa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Ważności cech płaskie; cechy miesiąca martwe (wąskie okno czasowe)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Model ~80% powyżej losowego baseline (F1 ≈ 0.30)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Wniosek: to SUFIT CECH, a nie modelu — HPO nie może go przebić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brak kluczowych przyczyn: opóźnienie rotacyjne samolotu, pogoda, ATFM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7.  Dalsze kroki i zalecenia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D3D"/>
                </a:solidFill>
                <a:latin typeface="Calibri"/>
              </a:rPr>
              <a:t>Dalsze kroki — lepsze źródło danych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Zalecane źródło: US DOT BTS — On-Time Performance / Delay Causes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LateAircraftDelay (opóźnienie rotacyjne) — najsilniejszy predyktor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WeatherDelay, NASDelay, CarrierDelay — dokładnie brakujące przyczyny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miliony lotów, 20+ lat → sygnał sezonowy i gęste komórki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Alternatywa EU (bliżej KRK): EUROCONTROL Aviation Data Repository (ADRR)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Inżynieria cech operacyjnych: kroczące opóźnienie / zatłoczenie lotniska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Łatwe rozszerzenia: strojenie progu prawdopodobieństwa, XGBoost (hook gotowy)</a:t>
            </a:r>
          </a:p>
          <a:p>
            <a:pPr>
              <a:spcAft>
                <a:spcPts val="700"/>
              </a:spcAft>
            </a:pPr>
            <a:r>
              <a:rPr sz="2000" b="1" i="0">
                <a:solidFill>
                  <a:srgbClr val="1F2D3D"/>
                </a:solidFill>
                <a:latin typeface="Calibri"/>
              </a:rPr>
              <a:t>•  Kluczowy wniosek: dźwignią jest BOGATSZE ŹRÓDŁO, a nie większy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  <a:p>
            <a:r>
              <a:rPr sz="2000" b="0" i="0">
                <a:solidFill>
                  <a:srgbClr val="BBC6D3"/>
                </a:solidFill>
                <a:latin typeface="Calibri"/>
              </a:rPr>
              <a:t>Pytania?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